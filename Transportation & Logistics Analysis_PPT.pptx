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Montserrat Light" panose="00000400000000000000" pitchFamily="2" charset="0"/>
      <p:regular r:id="rId13"/>
    </p:embeddedFont>
    <p:embeddedFont>
      <p:font typeface="Montserrat Medium" panose="00000600000000000000" pitchFamily="2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44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9900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tejassonawane09" TargetMode="External"/><Relationship Id="rId5" Type="http://schemas.openxmlformats.org/officeDocument/2006/relationships/image" Target="../media/image39.png"/><Relationship Id="rId4" Type="http://schemas.openxmlformats.org/officeDocument/2006/relationships/hyperlink" Target="http://www.linkedin.com/in/tejas-sonawane0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745462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Transportation &amp; Logistics Analysis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503182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Data-Driven Delivery Performance &amp; Cost Optimization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512123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Created by Tejas Sonawane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1898" y="557570"/>
            <a:ext cx="1453515" cy="381000"/>
          </a:xfrm>
          <a:prstGeom prst="roundRect">
            <a:avLst>
              <a:gd name="adj" fmla="val 38323"/>
            </a:avLst>
          </a:prstGeom>
          <a:solidFill>
            <a:srgbClr val="DFE1E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3461" y="666988"/>
            <a:ext cx="162163" cy="16216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6706" y="618292"/>
            <a:ext cx="967145" cy="2595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CHALLENGE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901898" y="1019651"/>
            <a:ext cx="5069800" cy="633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Business Problem</a:t>
            </a:r>
            <a:endParaRPr lang="en-US" sz="3950" dirty="0"/>
          </a:p>
        </p:txBody>
      </p:sp>
      <p:sp>
        <p:nvSpPr>
          <p:cNvPr id="6" name="Text 3"/>
          <p:cNvSpPr/>
          <p:nvPr/>
        </p:nvSpPr>
        <p:spPr>
          <a:xfrm>
            <a:off x="901898" y="1957388"/>
            <a:ext cx="12826603" cy="648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5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Our transportation network faces critical operational challenges that directly impact customer satisfaction and profitability. These recurring issues demand immediate data-driven solutions.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901898" y="2834164"/>
            <a:ext cx="6311860" cy="2318861"/>
          </a:xfrm>
          <a:prstGeom prst="roundRect">
            <a:avLst>
              <a:gd name="adj" fmla="val 7871"/>
            </a:avLst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12282" y="3044547"/>
            <a:ext cx="608290" cy="608290"/>
          </a:xfrm>
          <a:prstGeom prst="roundRect">
            <a:avLst>
              <a:gd name="adj" fmla="val 15030800"/>
            </a:avLst>
          </a:prstGeom>
          <a:solidFill>
            <a:srgbClr val="2C3E50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79565" y="3211711"/>
            <a:ext cx="273725" cy="2737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12282" y="3855601"/>
            <a:ext cx="3220045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Frequent Delivery Delays</a:t>
            </a:r>
            <a:endParaRPr lang="en-US" sz="1950" dirty="0"/>
          </a:p>
        </p:txBody>
      </p:sp>
      <p:sp>
        <p:nvSpPr>
          <p:cNvPr id="11" name="Text 7"/>
          <p:cNvSpPr/>
          <p:nvPr/>
        </p:nvSpPr>
        <p:spPr>
          <a:xfrm>
            <a:off x="1112282" y="4293989"/>
            <a:ext cx="5891093" cy="648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5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Customer commitments are not being met consistently across routes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7416522" y="2834164"/>
            <a:ext cx="6311979" cy="2318861"/>
          </a:xfrm>
          <a:prstGeom prst="roundRect">
            <a:avLst>
              <a:gd name="adj" fmla="val 7871"/>
            </a:avLst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26906" y="3044547"/>
            <a:ext cx="608290" cy="608290"/>
          </a:xfrm>
          <a:prstGeom prst="roundRect">
            <a:avLst>
              <a:gd name="adj" fmla="val 15030800"/>
            </a:avLst>
          </a:prstGeom>
          <a:solidFill>
            <a:srgbClr val="2C3E50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4188" y="3211711"/>
            <a:ext cx="273725" cy="273725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626906" y="3855601"/>
            <a:ext cx="2584133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High Logistics Costs</a:t>
            </a:r>
            <a:endParaRPr lang="en-US" sz="1950" dirty="0"/>
          </a:p>
        </p:txBody>
      </p:sp>
      <p:sp>
        <p:nvSpPr>
          <p:cNvPr id="16" name="Text 11"/>
          <p:cNvSpPr/>
          <p:nvPr/>
        </p:nvSpPr>
        <p:spPr>
          <a:xfrm>
            <a:off x="7626906" y="4293989"/>
            <a:ext cx="5891213" cy="324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5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Operating expenses are eroding profit margins significantly</a:t>
            </a:r>
            <a:endParaRPr lang="en-US" sz="1550" dirty="0"/>
          </a:p>
        </p:txBody>
      </p:sp>
      <p:sp>
        <p:nvSpPr>
          <p:cNvPr id="17" name="Shape 12"/>
          <p:cNvSpPr/>
          <p:nvPr/>
        </p:nvSpPr>
        <p:spPr>
          <a:xfrm>
            <a:off x="901898" y="5355788"/>
            <a:ext cx="6311860" cy="2318861"/>
          </a:xfrm>
          <a:prstGeom prst="roundRect">
            <a:avLst>
              <a:gd name="adj" fmla="val 7871"/>
            </a:avLst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2282" y="5566172"/>
            <a:ext cx="608290" cy="608290"/>
          </a:xfrm>
          <a:prstGeom prst="roundRect">
            <a:avLst>
              <a:gd name="adj" fmla="val 15030800"/>
            </a:avLst>
          </a:prstGeom>
          <a:solidFill>
            <a:srgbClr val="2C3E50"/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79565" y="5733336"/>
            <a:ext cx="273725" cy="27372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12282" y="6377226"/>
            <a:ext cx="2534841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Inefficient Routes</a:t>
            </a:r>
            <a:endParaRPr lang="en-US" sz="1950" dirty="0"/>
          </a:p>
        </p:txBody>
      </p:sp>
      <p:sp>
        <p:nvSpPr>
          <p:cNvPr id="21" name="Text 15"/>
          <p:cNvSpPr/>
          <p:nvPr/>
        </p:nvSpPr>
        <p:spPr>
          <a:xfrm>
            <a:off x="1112282" y="6815614"/>
            <a:ext cx="5891093" cy="6486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5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Suboptimal routing decisions increase time and fuel consumption</a:t>
            </a:r>
            <a:endParaRPr lang="en-US" sz="1550" dirty="0"/>
          </a:p>
        </p:txBody>
      </p:sp>
      <p:sp>
        <p:nvSpPr>
          <p:cNvPr id="22" name="Shape 16"/>
          <p:cNvSpPr/>
          <p:nvPr/>
        </p:nvSpPr>
        <p:spPr>
          <a:xfrm>
            <a:off x="7416522" y="5355788"/>
            <a:ext cx="6311979" cy="2318861"/>
          </a:xfrm>
          <a:prstGeom prst="roundRect">
            <a:avLst>
              <a:gd name="adj" fmla="val 7871"/>
            </a:avLst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626906" y="5566172"/>
            <a:ext cx="608290" cy="608290"/>
          </a:xfrm>
          <a:prstGeom prst="roundRect">
            <a:avLst>
              <a:gd name="adj" fmla="val 15030800"/>
            </a:avLst>
          </a:prstGeom>
          <a:solidFill>
            <a:srgbClr val="2C3E50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794188" y="5733336"/>
            <a:ext cx="273725" cy="27372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626906" y="6377226"/>
            <a:ext cx="3584972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Uneven Driver Performance</a:t>
            </a:r>
            <a:endParaRPr lang="en-US" sz="1950" dirty="0"/>
          </a:p>
        </p:txBody>
      </p:sp>
      <p:sp>
        <p:nvSpPr>
          <p:cNvPr id="26" name="Text 19"/>
          <p:cNvSpPr/>
          <p:nvPr/>
        </p:nvSpPr>
        <p:spPr>
          <a:xfrm>
            <a:off x="7626906" y="6815614"/>
            <a:ext cx="5891213" cy="3243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5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Inconsistent service quality across the driver workforce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41646" y="484584"/>
            <a:ext cx="909399" cy="346472"/>
          </a:xfrm>
          <a:prstGeom prst="roundRect">
            <a:avLst>
              <a:gd name="adj" fmla="val 36624"/>
            </a:avLst>
          </a:prstGeom>
          <a:noFill/>
          <a:ln w="7620">
            <a:solidFill>
              <a:srgbClr val="C6C9DC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54994" y="657225"/>
            <a:ext cx="140970" cy="14097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066449" y="545068"/>
            <a:ext cx="471249" cy="2255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100" dirty="0">
                <a:solidFill>
                  <a:srgbClr val="C6C9DC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GOALS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741646" y="901541"/>
            <a:ext cx="4405908" cy="5507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00"/>
              </a:lnSpc>
              <a:buNone/>
            </a:pPr>
            <a:r>
              <a:rPr lang="en-US" sz="34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Project Objectives</a:t>
            </a:r>
            <a:endParaRPr lang="en-US" sz="3450" dirty="0"/>
          </a:p>
        </p:txBody>
      </p:sp>
      <p:sp>
        <p:nvSpPr>
          <p:cNvPr id="6" name="Text 3"/>
          <p:cNvSpPr/>
          <p:nvPr/>
        </p:nvSpPr>
        <p:spPr>
          <a:xfrm>
            <a:off x="1741646" y="1875234"/>
            <a:ext cx="5358646" cy="112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This analysis aims to transform our logistics operations through comprehensive data evaluation. By identifying bottlenecks and inefficiencies, we'll develop actionable strategies for optimization.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537728" y="1914882"/>
            <a:ext cx="176212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01</a:t>
            </a:r>
            <a:endParaRPr lang="en-US" sz="13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728" y="2191583"/>
            <a:ext cx="5358646" cy="228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37728" y="2325410"/>
            <a:ext cx="2636639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Analyze Delivery Delays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7537728" y="2776895"/>
            <a:ext cx="5358646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Identify patterns and root causes of late deliveries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537728" y="3367207"/>
            <a:ext cx="176212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02</a:t>
            </a:r>
            <a:endParaRPr lang="en-US" sz="13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728" y="3625691"/>
            <a:ext cx="5358646" cy="228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537728" y="3777734"/>
            <a:ext cx="2803565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Improve Route Efficiency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7537728" y="4229219"/>
            <a:ext cx="5358646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Optimize paths to reduce time and fuel costs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7537728" y="4819531"/>
            <a:ext cx="176212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03</a:t>
            </a:r>
            <a:endParaRPr lang="en-US" sz="13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728" y="5060394"/>
            <a:ext cx="5358646" cy="228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537728" y="5230058"/>
            <a:ext cx="3215045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Evaluate Driver Performance</a:t>
            </a:r>
            <a:endParaRPr lang="en-US" sz="1700" dirty="0"/>
          </a:p>
        </p:txBody>
      </p:sp>
      <p:sp>
        <p:nvSpPr>
          <p:cNvPr id="18" name="Text 12"/>
          <p:cNvSpPr/>
          <p:nvPr/>
        </p:nvSpPr>
        <p:spPr>
          <a:xfrm>
            <a:off x="7537728" y="5681543"/>
            <a:ext cx="5358646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Measure individual metrics and identify training needs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7537728" y="6271855"/>
            <a:ext cx="176212" cy="2202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Light" pitchFamily="34" charset="0"/>
                <a:ea typeface="Montserrat Light" pitchFamily="34" charset="-122"/>
                <a:cs typeface="Montserrat Light" pitchFamily="34" charset="-120"/>
              </a:rPr>
              <a:t>04</a:t>
            </a:r>
            <a:endParaRPr lang="en-US" sz="1350" dirty="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728" y="6495098"/>
            <a:ext cx="5358646" cy="228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537728" y="6682383"/>
            <a:ext cx="2940010" cy="2752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Identify Cost Inefficiencies</a:t>
            </a:r>
            <a:endParaRPr lang="en-US" sz="1700" dirty="0"/>
          </a:p>
        </p:txBody>
      </p:sp>
      <p:sp>
        <p:nvSpPr>
          <p:cNvPr id="22" name="Text 15"/>
          <p:cNvSpPr/>
          <p:nvPr/>
        </p:nvSpPr>
        <p:spPr>
          <a:xfrm>
            <a:off x="7537728" y="7133868"/>
            <a:ext cx="5358646" cy="2819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Pinpoint areas where expenses exceed revenue potential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2128" y="732830"/>
            <a:ext cx="5124926" cy="6405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000"/>
              </a:lnSpc>
              <a:buNone/>
            </a:pPr>
            <a:r>
              <a:rPr lang="en-US" sz="400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Data Overview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32128" y="1783318"/>
            <a:ext cx="12966144" cy="656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Our analysis leverages comprehensive operational data spanning multiple dimensions of the transportation ecosystem. This rich dataset enables deep insights into performance drivers.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32128" y="2977396"/>
            <a:ext cx="4185404" cy="2167533"/>
          </a:xfrm>
          <a:prstGeom prst="roundRect">
            <a:avLst>
              <a:gd name="adj" fmla="val 5062"/>
            </a:avLst>
          </a:prstGeom>
          <a:solidFill>
            <a:srgbClr val="FFFFF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28" y="2954536"/>
            <a:ext cx="4185404" cy="9144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7291" y="2669977"/>
            <a:ext cx="614958" cy="61495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801719" y="2823686"/>
            <a:ext cx="245983" cy="307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1059894" y="3489841"/>
            <a:ext cx="2562463" cy="320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Deliveries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059894" y="3933111"/>
            <a:ext cx="3729871" cy="984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Complete delivery records including timestamps, locations, and status indicators for every shipment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222438" y="2977396"/>
            <a:ext cx="4185404" cy="2167533"/>
          </a:xfrm>
          <a:prstGeom prst="roundRect">
            <a:avLst>
              <a:gd name="adj" fmla="val 5062"/>
            </a:avLst>
          </a:prstGeom>
          <a:solidFill>
            <a:srgbClr val="FFFFFF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2438" y="2954536"/>
            <a:ext cx="4185404" cy="91440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7602" y="2669977"/>
            <a:ext cx="614958" cy="61495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192030" y="2823686"/>
            <a:ext cx="245983" cy="307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5450205" y="3489841"/>
            <a:ext cx="2562463" cy="320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Orders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5450205" y="3933111"/>
            <a:ext cx="3729871" cy="984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Detailed order information covering customer requirements, priorities, and service level agreements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9612749" y="2977396"/>
            <a:ext cx="4185404" cy="2167533"/>
          </a:xfrm>
          <a:prstGeom prst="roundRect">
            <a:avLst>
              <a:gd name="adj" fmla="val 5062"/>
            </a:avLst>
          </a:prstGeom>
          <a:solidFill>
            <a:srgbClr val="FFFFFF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749" y="2954536"/>
            <a:ext cx="4185404" cy="91440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7913" y="2669977"/>
            <a:ext cx="614958" cy="61495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582340" y="2823686"/>
            <a:ext cx="245983" cy="307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Text 12"/>
          <p:cNvSpPr/>
          <p:nvPr/>
        </p:nvSpPr>
        <p:spPr>
          <a:xfrm>
            <a:off x="9840516" y="3489841"/>
            <a:ext cx="2562463" cy="320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Drivers</a:t>
            </a:r>
            <a:endParaRPr lang="en-US" sz="2000" dirty="0"/>
          </a:p>
        </p:txBody>
      </p:sp>
      <p:sp>
        <p:nvSpPr>
          <p:cNvPr id="21" name="Text 13"/>
          <p:cNvSpPr/>
          <p:nvPr/>
        </p:nvSpPr>
        <p:spPr>
          <a:xfrm>
            <a:off x="9840516" y="3933111"/>
            <a:ext cx="3729871" cy="984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Driver profiles with performance history, certifications, and operational metrics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832128" y="5657255"/>
            <a:ext cx="6380559" cy="1839516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/>
        </p:spPr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28" y="5634395"/>
            <a:ext cx="6380559" cy="91440"/>
          </a:xfrm>
          <a:prstGeom prst="rect">
            <a:avLst/>
          </a:prstGeom>
        </p:spPr>
      </p:pic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929" y="5349835"/>
            <a:ext cx="614958" cy="61495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3899356" y="5503545"/>
            <a:ext cx="245983" cy="307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4</a:t>
            </a:r>
            <a:endParaRPr lang="en-US" sz="1900" dirty="0"/>
          </a:p>
        </p:txBody>
      </p:sp>
      <p:sp>
        <p:nvSpPr>
          <p:cNvPr id="26" name="Text 16"/>
          <p:cNvSpPr/>
          <p:nvPr/>
        </p:nvSpPr>
        <p:spPr>
          <a:xfrm>
            <a:off x="1059894" y="6169700"/>
            <a:ext cx="2562463" cy="320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Vehicles</a:t>
            </a:r>
            <a:endParaRPr lang="en-US" sz="2000" dirty="0"/>
          </a:p>
        </p:txBody>
      </p:sp>
      <p:sp>
        <p:nvSpPr>
          <p:cNvPr id="27" name="Text 17"/>
          <p:cNvSpPr/>
          <p:nvPr/>
        </p:nvSpPr>
        <p:spPr>
          <a:xfrm>
            <a:off x="1059894" y="6612969"/>
            <a:ext cx="5925026" cy="656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Fleet specifications including capacity, maintenance records, and operational costs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417594" y="5657255"/>
            <a:ext cx="6380559" cy="1839516"/>
          </a:xfrm>
          <a:prstGeom prst="roundRect">
            <a:avLst>
              <a:gd name="adj" fmla="val 5965"/>
            </a:avLst>
          </a:prstGeom>
          <a:solidFill>
            <a:srgbClr val="FFFFFF"/>
          </a:solidFill>
          <a:ln/>
        </p:spPr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7594" y="5634395"/>
            <a:ext cx="6380559" cy="91440"/>
          </a:xfrm>
          <a:prstGeom prst="rect">
            <a:avLst/>
          </a:prstGeom>
        </p:spPr>
      </p:pic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0395" y="5349835"/>
            <a:ext cx="614958" cy="614958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10484822" y="5503545"/>
            <a:ext cx="245983" cy="307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5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5</a:t>
            </a:r>
            <a:endParaRPr lang="en-US" sz="1900" dirty="0"/>
          </a:p>
        </p:txBody>
      </p:sp>
      <p:sp>
        <p:nvSpPr>
          <p:cNvPr id="32" name="Text 20"/>
          <p:cNvSpPr/>
          <p:nvPr/>
        </p:nvSpPr>
        <p:spPr>
          <a:xfrm>
            <a:off x="7645360" y="6169700"/>
            <a:ext cx="2562463" cy="320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Routes</a:t>
            </a:r>
            <a:endParaRPr lang="en-US" sz="2000" dirty="0"/>
          </a:p>
        </p:txBody>
      </p:sp>
      <p:sp>
        <p:nvSpPr>
          <p:cNvPr id="33" name="Text 21"/>
          <p:cNvSpPr/>
          <p:nvPr/>
        </p:nvSpPr>
        <p:spPr>
          <a:xfrm>
            <a:off x="7645360" y="6612969"/>
            <a:ext cx="5925026" cy="656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Geographic and temporal routing data with distance, duration, and complexity factors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51121" y="669965"/>
            <a:ext cx="2016919" cy="354449"/>
          </a:xfrm>
          <a:prstGeom prst="roundRect">
            <a:avLst>
              <a:gd name="adj" fmla="val 38308"/>
            </a:avLst>
          </a:prstGeom>
          <a:solidFill>
            <a:srgbClr val="C6C9D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4231" y="771763"/>
            <a:ext cx="150852" cy="1508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0449" y="726519"/>
            <a:ext cx="1564481" cy="2413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TECHNOLOGY STACK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351121" y="1099780"/>
            <a:ext cx="4952762" cy="5893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70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Tools &amp; Technologies</a:t>
            </a:r>
            <a:endParaRPr lang="en-US" sz="3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1121" y="2183963"/>
            <a:ext cx="4495086" cy="449508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13884" y="2141577"/>
            <a:ext cx="6972776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 comprehensive analytics toolkit combining database management, statistical analysis, and visualization capabilities to extract actionable insights.</a:t>
            </a:r>
            <a:endParaRPr lang="en-US" sz="14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3884" y="2957036"/>
            <a:ext cx="942856" cy="146351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445216" y="3145512"/>
            <a:ext cx="235731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MySQL</a:t>
            </a:r>
            <a:endParaRPr lang="en-US" sz="1850" dirty="0"/>
          </a:p>
        </p:txBody>
      </p:sp>
      <p:sp>
        <p:nvSpPr>
          <p:cNvPr id="10" name="Text 5"/>
          <p:cNvSpPr/>
          <p:nvPr/>
        </p:nvSpPr>
        <p:spPr>
          <a:xfrm>
            <a:off x="7445216" y="3628668"/>
            <a:ext cx="5841444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Database management and SQL analysis for data extraction, transformation, and querying</a:t>
            </a:r>
            <a:endParaRPr lang="en-US" sz="14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884" y="4420553"/>
            <a:ext cx="942856" cy="146351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445216" y="4609028"/>
            <a:ext cx="235731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Python</a:t>
            </a:r>
            <a:endParaRPr lang="en-US" sz="1850" dirty="0"/>
          </a:p>
        </p:txBody>
      </p:sp>
      <p:sp>
        <p:nvSpPr>
          <p:cNvPr id="13" name="Text 7"/>
          <p:cNvSpPr/>
          <p:nvPr/>
        </p:nvSpPr>
        <p:spPr>
          <a:xfrm>
            <a:off x="7445216" y="5092184"/>
            <a:ext cx="5841444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Advanced data analysis in Jupyter Notebook using pandas, numpy, and statistical libraries</a:t>
            </a:r>
            <a:endParaRPr lang="en-US" sz="14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3884" y="5884069"/>
            <a:ext cx="942856" cy="146351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445216" y="6072545"/>
            <a:ext cx="235731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Power BI</a:t>
            </a:r>
            <a:endParaRPr lang="en-US" sz="1850" dirty="0"/>
          </a:p>
        </p:txBody>
      </p:sp>
      <p:sp>
        <p:nvSpPr>
          <p:cNvPr id="16" name="Text 9"/>
          <p:cNvSpPr/>
          <p:nvPr/>
        </p:nvSpPr>
        <p:spPr>
          <a:xfrm>
            <a:off x="7445216" y="6555700"/>
            <a:ext cx="5841444" cy="603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Interactive dashboards and business intelligence visualization for stakeholder communication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997506"/>
            <a:ext cx="1700093" cy="441484"/>
          </a:xfrm>
          <a:prstGeom prst="roundRect">
            <a:avLst>
              <a:gd name="adj" fmla="val 36993"/>
            </a:avLst>
          </a:prstGeom>
          <a:noFill/>
          <a:ln w="7620">
            <a:solidFill>
              <a:srgbClr val="C6C9D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37498" y="1073110"/>
            <a:ext cx="1412677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C6C9DC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METHODOLOGY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93790" y="1529715"/>
            <a:ext cx="679811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Key Analysis Performed</a:t>
            </a:r>
            <a:endParaRPr lang="en-US" sz="4450" dirty="0"/>
          </a:p>
        </p:txBody>
      </p:sp>
      <p:sp>
        <p:nvSpPr>
          <p:cNvPr id="5" name="Text 3"/>
          <p:cNvSpPr/>
          <p:nvPr/>
        </p:nvSpPr>
        <p:spPr>
          <a:xfrm>
            <a:off x="793790" y="2578656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Our multi-dimensional analytical approach examined critical operational metrics to uncover systemic inefficiencies and performance gaps.</a:t>
            </a:r>
            <a:endParaRPr lang="en-US" sz="17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559612"/>
            <a:ext cx="1767840" cy="1092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3790" y="4935617"/>
            <a:ext cx="304800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Delivery Time Analysis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93790" y="5780365"/>
            <a:ext cx="304800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Statistical evaluation of planned vs actual delivery times across all routes</a:t>
            </a:r>
            <a:endParaRPr lang="en-US" sz="17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5278" y="3559612"/>
            <a:ext cx="1767840" cy="1092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125278" y="4935617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Delay Analysis by Route &amp; Day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4125278" y="5780365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Temporal and geographic pattern identification in delay occurrences</a:t>
            </a:r>
            <a:endParaRPr lang="en-US" sz="17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884" y="3559612"/>
            <a:ext cx="1767840" cy="109251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456884" y="4935617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Driver Performance Analysis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7456884" y="5780365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Individual and aggregate performance metrics including on-time rates and efficiency</a:t>
            </a:r>
            <a:endParaRPr lang="en-US" sz="17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8491" y="3559612"/>
            <a:ext cx="1767840" cy="109251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0788491" y="4935617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Cost vs Revenue Analysis</a:t>
            </a:r>
            <a:endParaRPr lang="en-US" sz="2200" dirty="0"/>
          </a:p>
        </p:txBody>
      </p:sp>
      <p:sp>
        <p:nvSpPr>
          <p:cNvPr id="17" name="Text 11"/>
          <p:cNvSpPr/>
          <p:nvPr/>
        </p:nvSpPr>
        <p:spPr>
          <a:xfrm>
            <a:off x="10788491" y="5780365"/>
            <a:ext cx="304811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Profitability assessment by route, region, and delivery characteristics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28223" y="592098"/>
            <a:ext cx="856774" cy="260628"/>
          </a:xfrm>
          <a:prstGeom prst="roundRect">
            <a:avLst>
              <a:gd name="adj" fmla="val 38321"/>
            </a:avLst>
          </a:prstGeom>
          <a:solidFill>
            <a:srgbClr val="E5E0DF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11448" y="666869"/>
            <a:ext cx="110966" cy="11096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177897" y="633651"/>
            <a:ext cx="523875" cy="177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8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FINDINGS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2928223" y="908209"/>
            <a:ext cx="3467814" cy="4335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70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Key Insights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7307461" y="1549718"/>
            <a:ext cx="15240" cy="6087666"/>
          </a:xfrm>
          <a:prstGeom prst="roundRect">
            <a:avLst>
              <a:gd name="adj" fmla="val 819192"/>
            </a:avLst>
          </a:prstGeom>
          <a:solidFill>
            <a:srgbClr val="455769"/>
          </a:solidFill>
          <a:ln/>
        </p:spPr>
      </p:sp>
      <p:sp>
        <p:nvSpPr>
          <p:cNvPr id="7" name="Shape 4"/>
          <p:cNvSpPr/>
          <p:nvPr/>
        </p:nvSpPr>
        <p:spPr>
          <a:xfrm>
            <a:off x="2912983" y="1549718"/>
            <a:ext cx="4386858" cy="1480304"/>
          </a:xfrm>
          <a:prstGeom prst="roundRect">
            <a:avLst>
              <a:gd name="adj" fmla="val 8434"/>
            </a:avLst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36733" y="1696045"/>
            <a:ext cx="2824401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Route &amp; Regional Concentration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059311" y="1995964"/>
            <a:ext cx="4101822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Analysis reveals that </a:t>
            </a:r>
            <a:r>
              <a:rPr lang="en-US" sz="1050" dirty="0">
                <a:solidFill>
                  <a:srgbClr val="3D3E44"/>
                </a:solidFill>
                <a:highlight>
                  <a:srgbClr val="C6C9DC"/>
                </a:highlight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specific routes and geographic regions account for the majority of delivery delays</a:t>
            </a: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. This concentration suggests systemic issues with particular corridors rather than random distribution.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330321" y="3307437"/>
            <a:ext cx="4386977" cy="1258372"/>
          </a:xfrm>
          <a:prstGeom prst="rect">
            <a:avLst/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69029" y="3453765"/>
            <a:ext cx="2536031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Driver Performance Variance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469029" y="3753683"/>
            <a:ext cx="4101941" cy="66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 small subset of drivers is responsible for a disproportionate share of delays. </a:t>
            </a:r>
            <a:r>
              <a:rPr lang="en-US" sz="1050" dirty="0">
                <a:solidFill>
                  <a:srgbClr val="3D3E44"/>
                </a:solidFill>
                <a:highlight>
                  <a:srgbClr val="C4D5EF"/>
                </a:highlight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Targeted training and performance management</a:t>
            </a: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could significantly improve overall metrics.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12983" y="4843224"/>
            <a:ext cx="4386858" cy="1258372"/>
          </a:xfrm>
          <a:prstGeom prst="roundRect">
            <a:avLst>
              <a:gd name="adj" fmla="val 9921"/>
            </a:avLst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534019" y="4989552"/>
            <a:ext cx="2627114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Unprofitable Route Segments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3059311" y="5289471"/>
            <a:ext cx="4101822" cy="66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700"/>
              </a:lnSpc>
              <a:buNone/>
            </a:pP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Several routes operate at negative margins due to high operational costs relative to revenue. </a:t>
            </a:r>
            <a:r>
              <a:rPr lang="en-US" sz="1050" dirty="0">
                <a:solidFill>
                  <a:srgbClr val="3D3E44"/>
                </a:solidFill>
                <a:highlight>
                  <a:srgbClr val="EFD7C2"/>
                </a:highlight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Route optimization or pricing adjustments</a:t>
            </a: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are needed to restore profitability.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7330321" y="6379012"/>
            <a:ext cx="4386977" cy="1258372"/>
          </a:xfrm>
          <a:prstGeom prst="rect">
            <a:avLst/>
          </a:prstGeom>
          <a:solidFill>
            <a:srgbClr val="EFF0F6"/>
          </a:solidFill>
          <a:ln w="7620">
            <a:solidFill>
              <a:srgbClr val="2C3E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69029" y="6525339"/>
            <a:ext cx="2159318" cy="216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Temporal Delay Patterns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469029" y="6825258"/>
            <a:ext cx="4101941" cy="665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Delays exhibit clear day-of-week patterns, with certain days consistently showing higher incident rates. This insight enables </a:t>
            </a:r>
            <a:r>
              <a:rPr lang="en-US" sz="1050" dirty="0">
                <a:solidFill>
                  <a:srgbClr val="3D3E44"/>
                </a:solidFill>
                <a:highlight>
                  <a:srgbClr val="E0F5FB"/>
                </a:highlight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proactive resource allocation</a:t>
            </a:r>
            <a:r>
              <a:rPr lang="en-US" sz="10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 during peak challenge periods.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6037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29020" y="3186979"/>
            <a:ext cx="8336875" cy="650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10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Power BI Dashboard Highlights</a:t>
            </a:r>
            <a:endParaRPr lang="en-US" sz="4100" dirty="0"/>
          </a:p>
        </p:txBody>
      </p:sp>
      <p:sp>
        <p:nvSpPr>
          <p:cNvPr id="4" name="Text 1"/>
          <p:cNvSpPr/>
          <p:nvPr/>
        </p:nvSpPr>
        <p:spPr>
          <a:xfrm>
            <a:off x="729020" y="4139922"/>
            <a:ext cx="13172361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An interactive visualization platform provides real-time operational intelligence for data-driven decision making across all levels of the organization.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020" y="5385911"/>
            <a:ext cx="104061" cy="10406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41321" y="5275302"/>
            <a:ext cx="4652129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Total Deliveries &amp; Delay Percentage</a:t>
            </a:r>
            <a:endParaRPr lang="en-US" sz="2050" dirty="0"/>
          </a:p>
        </p:txBody>
      </p:sp>
      <p:sp>
        <p:nvSpPr>
          <p:cNvPr id="7" name="Text 3"/>
          <p:cNvSpPr/>
          <p:nvPr/>
        </p:nvSpPr>
        <p:spPr>
          <a:xfrm>
            <a:off x="1041321" y="5808940"/>
            <a:ext cx="60198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Comprehensive KPI tracking with trend analysis</a:t>
            </a:r>
            <a:endParaRPr lang="en-US" sz="1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020" y="6669524"/>
            <a:ext cx="104061" cy="10406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41321" y="6558915"/>
            <a:ext cx="3584258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Driver Performance Visuals</a:t>
            </a:r>
            <a:endParaRPr lang="en-US" sz="2050" dirty="0"/>
          </a:p>
        </p:txBody>
      </p:sp>
      <p:sp>
        <p:nvSpPr>
          <p:cNvPr id="10" name="Text 5"/>
          <p:cNvSpPr/>
          <p:nvPr/>
        </p:nvSpPr>
        <p:spPr>
          <a:xfrm>
            <a:off x="1041321" y="7092553"/>
            <a:ext cx="60198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Individual scorecards and comparative rankings</a:t>
            </a:r>
            <a:endParaRPr lang="en-US" sz="16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99" y="5385911"/>
            <a:ext cx="104061" cy="104061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889200" y="5275302"/>
            <a:ext cx="4011097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Route &amp; Region Delay Analysis</a:t>
            </a:r>
            <a:endParaRPr lang="en-US" sz="2050" dirty="0"/>
          </a:p>
        </p:txBody>
      </p:sp>
      <p:sp>
        <p:nvSpPr>
          <p:cNvPr id="13" name="Text 7"/>
          <p:cNvSpPr/>
          <p:nvPr/>
        </p:nvSpPr>
        <p:spPr>
          <a:xfrm>
            <a:off x="7889200" y="5808940"/>
            <a:ext cx="60198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Geographic heat maps and route-specific metrics</a:t>
            </a:r>
            <a:endParaRPr lang="en-US" sz="16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99" y="6669524"/>
            <a:ext cx="104061" cy="104061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889200" y="6558915"/>
            <a:ext cx="3829407" cy="3253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Cost vs Revenue Comparison</a:t>
            </a:r>
            <a:endParaRPr lang="en-US" sz="2050" dirty="0"/>
          </a:p>
        </p:txBody>
      </p:sp>
      <p:sp>
        <p:nvSpPr>
          <p:cNvPr id="16" name="Text 9"/>
          <p:cNvSpPr/>
          <p:nvPr/>
        </p:nvSpPr>
        <p:spPr>
          <a:xfrm>
            <a:off x="7889200" y="7092553"/>
            <a:ext cx="60198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Profitability analysis with drill-down capabilities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622709" y="426601"/>
            <a:ext cx="797481" cy="278725"/>
          </a:xfrm>
          <a:prstGeom prst="roundRect">
            <a:avLst>
              <a:gd name="adj" fmla="val 38329"/>
            </a:avLst>
          </a:prstGeom>
          <a:solidFill>
            <a:srgbClr val="C6C9DC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11648" y="506611"/>
            <a:ext cx="118586" cy="11858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889528" y="471011"/>
            <a:ext cx="441722" cy="189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IMPACT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2622709" y="764619"/>
            <a:ext cx="3709392" cy="4637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50"/>
              </a:lnSpc>
              <a:buNone/>
            </a:pPr>
            <a:r>
              <a:rPr lang="en-US" sz="290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Business Impact</a:t>
            </a:r>
            <a:endParaRPr lang="en-US" sz="29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2709" y="1617821"/>
            <a:ext cx="3536752" cy="353675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29030" y="1584365"/>
            <a:ext cx="5486162" cy="711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This analytics initiative delivers tangible improvements across operational and strategic dimensions, positioning the organization for sustained competitive advantage.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529030" y="2463165"/>
            <a:ext cx="5486162" cy="1181933"/>
          </a:xfrm>
          <a:prstGeom prst="roundRect">
            <a:avLst>
              <a:gd name="adj" fmla="val 6189"/>
            </a:avLst>
          </a:prstGeom>
          <a:solidFill>
            <a:srgbClr val="FFFFFF"/>
          </a:solidFill>
          <a:ln w="15240">
            <a:solidFill>
              <a:srgbClr val="C5C7D2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3790" y="2463165"/>
            <a:ext cx="60960" cy="118193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738342" y="2626757"/>
            <a:ext cx="2627471" cy="231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Improved Delivery Planning</a:t>
            </a:r>
            <a:endParaRPr lang="en-US" sz="1450" dirty="0"/>
          </a:p>
        </p:txBody>
      </p:sp>
      <p:sp>
        <p:nvSpPr>
          <p:cNvPr id="11" name="Text 6"/>
          <p:cNvSpPr/>
          <p:nvPr/>
        </p:nvSpPr>
        <p:spPr>
          <a:xfrm>
            <a:off x="6738342" y="3006923"/>
            <a:ext cx="5113258" cy="47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Data-driven scheduling reduces delays and enhances customer satisfaction through predictive resource allocation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529030" y="3793450"/>
            <a:ext cx="5486162" cy="1181933"/>
          </a:xfrm>
          <a:prstGeom prst="roundRect">
            <a:avLst>
              <a:gd name="adj" fmla="val 6189"/>
            </a:avLst>
          </a:prstGeom>
          <a:solidFill>
            <a:srgbClr val="FFFFFF"/>
          </a:solidFill>
          <a:ln w="15240">
            <a:solidFill>
              <a:srgbClr val="C5C7D2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3790" y="3793450"/>
            <a:ext cx="60960" cy="118193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738342" y="3957042"/>
            <a:ext cx="2561987" cy="231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Reduced Operational Costs</a:t>
            </a:r>
            <a:endParaRPr lang="en-US" sz="1450" dirty="0"/>
          </a:p>
        </p:txBody>
      </p:sp>
      <p:sp>
        <p:nvSpPr>
          <p:cNvPr id="15" name="Text 9"/>
          <p:cNvSpPr/>
          <p:nvPr/>
        </p:nvSpPr>
        <p:spPr>
          <a:xfrm>
            <a:off x="6738342" y="4337209"/>
            <a:ext cx="5113258" cy="47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Route optimization and efficiency gains translate directly to bottom-line savings and margin improvement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6529030" y="5123736"/>
            <a:ext cx="5486162" cy="1181933"/>
          </a:xfrm>
          <a:prstGeom prst="roundRect">
            <a:avLst>
              <a:gd name="adj" fmla="val 6189"/>
            </a:avLst>
          </a:prstGeom>
          <a:solidFill>
            <a:srgbClr val="FFFFFF"/>
          </a:solidFill>
          <a:ln w="15240">
            <a:solidFill>
              <a:srgbClr val="C5C7D2"/>
            </a:solidFill>
            <a:prstDash val="solid"/>
          </a:ln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3790" y="5123736"/>
            <a:ext cx="60960" cy="118193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738342" y="5287328"/>
            <a:ext cx="2304574" cy="231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Better Driver Monitoring</a:t>
            </a:r>
            <a:endParaRPr lang="en-US" sz="1450" dirty="0"/>
          </a:p>
        </p:txBody>
      </p:sp>
      <p:sp>
        <p:nvSpPr>
          <p:cNvPr id="19" name="Text 12"/>
          <p:cNvSpPr/>
          <p:nvPr/>
        </p:nvSpPr>
        <p:spPr>
          <a:xfrm>
            <a:off x="6738342" y="5667494"/>
            <a:ext cx="5113258" cy="47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Performance visibility enables targeted coaching, recognition, and accountability across the workforce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6529030" y="6454021"/>
            <a:ext cx="5486162" cy="1181933"/>
          </a:xfrm>
          <a:prstGeom prst="roundRect">
            <a:avLst>
              <a:gd name="adj" fmla="val 6189"/>
            </a:avLst>
          </a:prstGeom>
          <a:solidFill>
            <a:srgbClr val="FFFFFF"/>
          </a:solidFill>
          <a:ln w="15240">
            <a:solidFill>
              <a:srgbClr val="C5C7D2"/>
            </a:solidFill>
            <a:prstDash val="solid"/>
          </a:ln>
        </p:spPr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3790" y="6454021"/>
            <a:ext cx="60960" cy="1181933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738342" y="6617613"/>
            <a:ext cx="2757964" cy="2318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3D3E44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Data-Driven Decision Making</a:t>
            </a:r>
            <a:endParaRPr lang="en-US" sz="1450" dirty="0"/>
          </a:p>
        </p:txBody>
      </p:sp>
      <p:sp>
        <p:nvSpPr>
          <p:cNvPr id="23" name="Text 15"/>
          <p:cNvSpPr/>
          <p:nvPr/>
        </p:nvSpPr>
        <p:spPr>
          <a:xfrm>
            <a:off x="6738342" y="6997779"/>
            <a:ext cx="5113258" cy="474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1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Real-time dashboards empower managers with actionable insights for rapid, informed operational adjustments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124432"/>
            <a:ext cx="7556421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150"/>
              </a:lnSpc>
              <a:buNone/>
            </a:pPr>
            <a:r>
              <a:rPr lang="en-US" sz="8900" dirty="0">
                <a:solidFill>
                  <a:srgbClr val="74767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Thank You</a:t>
            </a:r>
            <a:endParaRPr lang="en-US" sz="8900" dirty="0"/>
          </a:p>
        </p:txBody>
      </p:sp>
      <p:sp>
        <p:nvSpPr>
          <p:cNvPr id="4" name="Text 1"/>
          <p:cNvSpPr/>
          <p:nvPr/>
        </p:nvSpPr>
        <p:spPr>
          <a:xfrm>
            <a:off x="6280190" y="3882271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Let's connect to discuss how data analytics can drive operational excellence in transportation and logistics.</a:t>
            </a:r>
            <a:endParaRPr lang="en-US" sz="1750" dirty="0"/>
          </a:p>
        </p:txBody>
      </p:sp>
      <p:pic>
        <p:nvPicPr>
          <p:cNvPr id="5" name="Image 1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0190" y="4863227"/>
            <a:ext cx="2149316" cy="623768"/>
          </a:xfrm>
          <a:prstGeom prst="rect">
            <a:avLst/>
          </a:prstGeom>
        </p:spPr>
      </p:pic>
      <p:pic>
        <p:nvPicPr>
          <p:cNvPr id="6" name="Image 2" descr="preencoded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2853" y="4863227"/>
            <a:ext cx="2197060" cy="623768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280190" y="5742146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3D3E44"/>
                </a:solidFill>
                <a:latin typeface="Inter Light" pitchFamily="34" charset="0"/>
                <a:ea typeface="Inter Light" pitchFamily="34" charset="-122"/>
                <a:cs typeface="Inter Light" pitchFamily="34" charset="-120"/>
              </a:rPr>
              <a:t>Tejas Sonawane | Data Analytics </a:t>
            </a:r>
            <a:endParaRPr lang="en-US" sz="1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697</Words>
  <Application>Microsoft Office PowerPoint</Application>
  <PresentationFormat>Custom</PresentationFormat>
  <Paragraphs>110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Montserrat Medium</vt:lpstr>
      <vt:lpstr>Inter Light</vt:lpstr>
      <vt:lpstr>Montserrat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Tejas Sonawane</cp:lastModifiedBy>
  <cp:revision>2</cp:revision>
  <dcterms:created xsi:type="dcterms:W3CDTF">2026-01-18T16:03:49Z</dcterms:created>
  <dcterms:modified xsi:type="dcterms:W3CDTF">2026-01-18T16:29:17Z</dcterms:modified>
</cp:coreProperties>
</file>