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tejas-sonawane09" TargetMode="External"/><Relationship Id="rId5" Type="http://schemas.openxmlformats.org/officeDocument/2006/relationships/hyperlink" Target="https://github.com/tejassonawane09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Transportation &amp; Logistics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Data-Driven Delivery Performance &amp; Cost Optimization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Created by Tejas Sonawane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898" y="557570"/>
            <a:ext cx="1453515" cy="381000"/>
          </a:xfrm>
          <a:prstGeom prst="roundRect">
            <a:avLst>
              <a:gd name="adj" fmla="val 38323"/>
            </a:avLst>
          </a:prstGeom>
          <a:solidFill>
            <a:srgbClr val="DFE1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461" y="666988"/>
            <a:ext cx="162163" cy="162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6706" y="618292"/>
            <a:ext cx="967145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CHALLENGE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01898" y="1019651"/>
            <a:ext cx="5069800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Business Problem</a:t>
            </a: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901898" y="1957388"/>
            <a:ext cx="12826603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transportation network faces critical operational challenges that directly impact customer satisfaction and profitability. These recurring issues demand immediate data-driven solutions.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901898" y="2834164"/>
            <a:ext cx="6311860" cy="2318861"/>
          </a:xfrm>
          <a:prstGeom prst="roundRect">
            <a:avLst>
              <a:gd name="adj" fmla="val 7871"/>
            </a:avLst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2282" y="3044547"/>
            <a:ext cx="608290" cy="608290"/>
          </a:xfrm>
          <a:prstGeom prst="roundRect">
            <a:avLst>
              <a:gd name="adj" fmla="val 15030800"/>
            </a:avLst>
          </a:prstGeom>
          <a:solidFill>
            <a:srgbClr val="2C3E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565" y="3211711"/>
            <a:ext cx="273725" cy="2737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2282" y="3855601"/>
            <a:ext cx="322004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Frequent Delivery Delays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112282" y="4293989"/>
            <a:ext cx="5891093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Customer commitments are not being met consistently across routes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416522" y="2834164"/>
            <a:ext cx="6311979" cy="2318861"/>
          </a:xfrm>
          <a:prstGeom prst="roundRect">
            <a:avLst>
              <a:gd name="adj" fmla="val 7871"/>
            </a:avLst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26906" y="3044547"/>
            <a:ext cx="608290" cy="608290"/>
          </a:xfrm>
          <a:prstGeom prst="roundRect">
            <a:avLst>
              <a:gd name="adj" fmla="val 15030800"/>
            </a:avLst>
          </a:prstGeom>
          <a:solidFill>
            <a:srgbClr val="2C3E5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4188" y="3211711"/>
            <a:ext cx="273725" cy="2737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26906" y="3855601"/>
            <a:ext cx="258413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Logistics Costs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7626906" y="4293989"/>
            <a:ext cx="5891213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Operating expenses are eroding profit margins significantly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901898" y="5355788"/>
            <a:ext cx="6311860" cy="2318861"/>
          </a:xfrm>
          <a:prstGeom prst="roundRect">
            <a:avLst>
              <a:gd name="adj" fmla="val 7871"/>
            </a:avLst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112282" y="5566172"/>
            <a:ext cx="608290" cy="608290"/>
          </a:xfrm>
          <a:prstGeom prst="roundRect">
            <a:avLst>
              <a:gd name="adj" fmla="val 15030800"/>
            </a:avLst>
          </a:prstGeom>
          <a:solidFill>
            <a:srgbClr val="2C3E5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9565" y="5733336"/>
            <a:ext cx="273725" cy="2737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2282" y="6377226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Inefficient Routes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1112282" y="6815614"/>
            <a:ext cx="5891093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Suboptimal routing decisions increase time and fuel consumption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7416522" y="5355788"/>
            <a:ext cx="6311979" cy="2318861"/>
          </a:xfrm>
          <a:prstGeom prst="roundRect">
            <a:avLst>
              <a:gd name="adj" fmla="val 7871"/>
            </a:avLst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626906" y="5566172"/>
            <a:ext cx="608290" cy="608290"/>
          </a:xfrm>
          <a:prstGeom prst="roundRect">
            <a:avLst>
              <a:gd name="adj" fmla="val 15030800"/>
            </a:avLst>
          </a:prstGeom>
          <a:solidFill>
            <a:srgbClr val="2C3E5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4188" y="5733336"/>
            <a:ext cx="273725" cy="2737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26906" y="6377226"/>
            <a:ext cx="3584972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Uneven Driver Performance</a:t>
            </a:r>
            <a:endParaRPr lang="en-US" sz="1950" dirty="0"/>
          </a:p>
        </p:txBody>
      </p:sp>
      <p:sp>
        <p:nvSpPr>
          <p:cNvPr id="26" name="Text 19"/>
          <p:cNvSpPr/>
          <p:nvPr/>
        </p:nvSpPr>
        <p:spPr>
          <a:xfrm>
            <a:off x="7626906" y="6815614"/>
            <a:ext cx="5891213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Inconsistent service quality across the driver workforce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646" y="484584"/>
            <a:ext cx="909399" cy="346472"/>
          </a:xfrm>
          <a:prstGeom prst="roundRect">
            <a:avLst>
              <a:gd name="adj" fmla="val 36624"/>
            </a:avLst>
          </a:prstGeom>
          <a:noFill/>
          <a:ln w="7620">
            <a:solidFill>
              <a:srgbClr val="C6C9D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4994" y="657225"/>
            <a:ext cx="140970" cy="1409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6449" y="545068"/>
            <a:ext cx="471249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6C9D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GOALS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41646" y="901541"/>
            <a:ext cx="4405908" cy="55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Objectives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1741646" y="1875234"/>
            <a:ext cx="535864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analysis aims to transform our logistics operations through comprehensive data evaluation. By identifying bottlenecks and inefficiencies, we'll develop actionable strategies for optimization.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7728" y="1914882"/>
            <a:ext cx="17621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728" y="2191583"/>
            <a:ext cx="5358646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37728" y="2325410"/>
            <a:ext cx="263663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 Delivery Delays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537728" y="2776895"/>
            <a:ext cx="5358646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Identify patterns and root causes of late deliveries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537728" y="3367207"/>
            <a:ext cx="17621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728" y="3625691"/>
            <a:ext cx="5358646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37728" y="3777734"/>
            <a:ext cx="2803565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 Route Efficiency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537728" y="4229219"/>
            <a:ext cx="5358646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Optimize paths to reduce time and fuel costs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537728" y="4819531"/>
            <a:ext cx="17621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728" y="5060394"/>
            <a:ext cx="5358646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37728" y="5230058"/>
            <a:ext cx="3215045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Evaluate Driver Performance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537728" y="5681543"/>
            <a:ext cx="5358646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Measure individual metrics and identify training needs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537728" y="6271855"/>
            <a:ext cx="17621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7728" y="6495098"/>
            <a:ext cx="5358646" cy="228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37728" y="6682383"/>
            <a:ext cx="2940010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Identify Cost Inefficiencies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7537728" y="7133868"/>
            <a:ext cx="5358646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Pinpoint areas where expenses exceed revenue potential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28" y="732830"/>
            <a:ext cx="5124926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32128" y="1783318"/>
            <a:ext cx="12966144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analysis leverages comprehensive operational data spanning multiple dimensions of the transportation ecosystem. This rich dataset enables deep insights into performance drivers.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2128" y="2977396"/>
            <a:ext cx="4185404" cy="2167533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28" y="2954536"/>
            <a:ext cx="4185404" cy="914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291" y="2669977"/>
            <a:ext cx="614958" cy="6149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01719" y="2823686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59894" y="3489841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Deliveries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059894" y="3933111"/>
            <a:ext cx="3729871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Complete delivery records including timestamps, locations, and status indicators for every shipment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222438" y="2977396"/>
            <a:ext cx="4185404" cy="2167533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438" y="2954536"/>
            <a:ext cx="4185404" cy="9144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602" y="2669977"/>
            <a:ext cx="614958" cy="6149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2030" y="2823686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5450205" y="3489841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Orders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5450205" y="3933111"/>
            <a:ext cx="3729871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Detailed order information covering customer requirements, priorities, and service level agreements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9612749" y="2977396"/>
            <a:ext cx="4185404" cy="2167533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749" y="2954536"/>
            <a:ext cx="4185404" cy="9144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7913" y="2669977"/>
            <a:ext cx="614958" cy="61495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582340" y="2823686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9840516" y="3489841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Drivers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9840516" y="3933111"/>
            <a:ext cx="3729871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Driver profiles with performance history, certifications, and operational metrics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832128" y="5657255"/>
            <a:ext cx="6380559" cy="1839516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28" y="5634395"/>
            <a:ext cx="6380559" cy="9144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929" y="5349835"/>
            <a:ext cx="614958" cy="61495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99356" y="5503545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16"/>
          <p:cNvSpPr/>
          <p:nvPr/>
        </p:nvSpPr>
        <p:spPr>
          <a:xfrm>
            <a:off x="1059894" y="6169700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Vehicles</a:t>
            </a:r>
            <a:endParaRPr lang="en-US" sz="2000" dirty="0"/>
          </a:p>
        </p:txBody>
      </p:sp>
      <p:sp>
        <p:nvSpPr>
          <p:cNvPr id="27" name="Text 17"/>
          <p:cNvSpPr/>
          <p:nvPr/>
        </p:nvSpPr>
        <p:spPr>
          <a:xfrm>
            <a:off x="1059894" y="6612969"/>
            <a:ext cx="5925026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Fleet specifications including capacity, maintenance records, and operational costs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7417594" y="5657255"/>
            <a:ext cx="6380559" cy="1839516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7594" y="5634395"/>
            <a:ext cx="6380559" cy="91440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0395" y="5349835"/>
            <a:ext cx="614958" cy="61495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484822" y="5503545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</a:t>
            </a:r>
            <a:endParaRPr lang="en-US" sz="1900" dirty="0"/>
          </a:p>
        </p:txBody>
      </p:sp>
      <p:sp>
        <p:nvSpPr>
          <p:cNvPr id="32" name="Text 20"/>
          <p:cNvSpPr/>
          <p:nvPr/>
        </p:nvSpPr>
        <p:spPr>
          <a:xfrm>
            <a:off x="7645360" y="6169700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Routes</a:t>
            </a:r>
            <a:endParaRPr lang="en-US" sz="2000" dirty="0"/>
          </a:p>
        </p:txBody>
      </p:sp>
      <p:sp>
        <p:nvSpPr>
          <p:cNvPr id="33" name="Text 21"/>
          <p:cNvSpPr/>
          <p:nvPr/>
        </p:nvSpPr>
        <p:spPr>
          <a:xfrm>
            <a:off x="7645360" y="6612969"/>
            <a:ext cx="5925026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Geographic and temporal routing data with distance, duration, and complexity factors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1121" y="669965"/>
            <a:ext cx="2016919" cy="354449"/>
          </a:xfrm>
          <a:prstGeom prst="roundRect">
            <a:avLst>
              <a:gd name="adj" fmla="val 38308"/>
            </a:avLst>
          </a:prstGeom>
          <a:solidFill>
            <a:srgbClr val="C6C9D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4231" y="771763"/>
            <a:ext cx="150852" cy="150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0449" y="726519"/>
            <a:ext cx="1564481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1121" y="1099780"/>
            <a:ext cx="4952762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Tools &amp; Technologies</a:t>
            </a:r>
            <a:endParaRPr lang="en-US" sz="3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121" y="2183963"/>
            <a:ext cx="4495086" cy="4495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13884" y="2141577"/>
            <a:ext cx="6972776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comprehensive analytics toolkit combining database management, statistical analysis, and visualization capabilities to extract actionable insights.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884" y="2957036"/>
            <a:ext cx="942856" cy="14635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45216" y="3145512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MySQL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7445216" y="3628668"/>
            <a:ext cx="584144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Database management and SQL analysis for data extraction, transformation, and querying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884" y="4420553"/>
            <a:ext cx="942856" cy="14635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45216" y="4609028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Python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7445216" y="5092184"/>
            <a:ext cx="584144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Advanced data analysis in Jupyter Notebook using pandas, numpy, and statistical libraries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884" y="5884069"/>
            <a:ext cx="942856" cy="14635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45216" y="6072545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Power BI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7445216" y="6555700"/>
            <a:ext cx="584144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Interactive dashboards and business intelligence visualization for stakeholder communication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97506"/>
            <a:ext cx="1700093" cy="441484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73110"/>
            <a:ext cx="14126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6C9D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29715"/>
            <a:ext cx="67981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Analysis Performed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786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multi-dimensional analytical approach examined critical operational metrics to uncover systemic inefficiencies and performance gaps.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59612"/>
            <a:ext cx="1767840" cy="1092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935617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Delivery Time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780365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Statistical evaluation of planned vs actual delivery times across all routes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559612"/>
            <a:ext cx="1767840" cy="1092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25278" y="49356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Delay Analysis by Route &amp; Day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125278" y="5780365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Temporal and geographic pattern identification in delay occurrences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559612"/>
            <a:ext cx="1767840" cy="1092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56884" y="49356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 Performance Analysis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456884" y="578036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Individual and aggregate performance metrics including on-time rates and efficiency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559612"/>
            <a:ext cx="1767840" cy="1092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8491" y="49356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 vs Revenue Analysis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0788491" y="5780365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Profitability assessment by route, region, and delivery characteristics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8223" y="592098"/>
            <a:ext cx="856774" cy="260628"/>
          </a:xfrm>
          <a:prstGeom prst="roundRect">
            <a:avLst>
              <a:gd name="adj" fmla="val 38321"/>
            </a:avLst>
          </a:prstGeom>
          <a:solidFill>
            <a:srgbClr val="E5E0D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1448" y="666869"/>
            <a:ext cx="110966" cy="110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77897" y="633651"/>
            <a:ext cx="523875" cy="177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FINDINGS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2928223" y="908209"/>
            <a:ext cx="3467814" cy="433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Insights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307461" y="1549718"/>
            <a:ext cx="15240" cy="6087666"/>
          </a:xfrm>
          <a:prstGeom prst="roundRect">
            <a:avLst>
              <a:gd name="adj" fmla="val 819192"/>
            </a:avLst>
          </a:prstGeom>
          <a:solidFill>
            <a:srgbClr val="455769"/>
          </a:solidFill>
          <a:ln/>
        </p:spPr>
      </p:sp>
      <p:sp>
        <p:nvSpPr>
          <p:cNvPr id="7" name="Shape 4"/>
          <p:cNvSpPr/>
          <p:nvPr/>
        </p:nvSpPr>
        <p:spPr>
          <a:xfrm>
            <a:off x="2912983" y="1549718"/>
            <a:ext cx="4386858" cy="1480304"/>
          </a:xfrm>
          <a:prstGeom prst="roundRect">
            <a:avLst>
              <a:gd name="adj" fmla="val 8434"/>
            </a:avLst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36733" y="1696045"/>
            <a:ext cx="282440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Route &amp; Regional Concentration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59311" y="1995964"/>
            <a:ext cx="4101822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Analysis reveals that </a:t>
            </a:r>
            <a:pPr algn="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highlight>
                  <a:srgbClr val="C6C9DC"/>
                </a:highlight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specific routes and geographic regions account for the majority of delivery delays</a:t>
            </a:r>
            <a:pPr algn="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This concentration suggests systemic issues with particular corridors rather than random distribution.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30321" y="3307437"/>
            <a:ext cx="4386977" cy="1258372"/>
          </a:xfrm>
          <a:prstGeom prst="rect">
            <a:avLst/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9029" y="3453765"/>
            <a:ext cx="253603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 Performance Variance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69029" y="3753683"/>
            <a:ext cx="4101941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small subset of drivers is responsible for a disproportionate share of delays.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highlight>
                  <a:srgbClr val="C4D5EF"/>
                </a:highlight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Targeted training and performance management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could significantly improve overall metrics.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12983" y="4843224"/>
            <a:ext cx="4386858" cy="1258372"/>
          </a:xfrm>
          <a:prstGeom prst="roundRect">
            <a:avLst>
              <a:gd name="adj" fmla="val 9921"/>
            </a:avLst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4019" y="4989552"/>
            <a:ext cx="262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Unprofitable Route Segments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59311" y="5289471"/>
            <a:ext cx="4101822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Several routes operate at negative margins due to high operational costs relative to revenue. </a:t>
            </a:r>
            <a:pPr algn="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highlight>
                  <a:srgbClr val="EFD7C2"/>
                </a:highlight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Route optimization or pricing adjustments</a:t>
            </a:r>
            <a:pPr algn="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are needed to restore profitability.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30321" y="6379012"/>
            <a:ext cx="4386977" cy="1258372"/>
          </a:xfrm>
          <a:prstGeom prst="rect">
            <a:avLst/>
          </a:prstGeom>
          <a:solidFill>
            <a:srgbClr val="EFF0F6"/>
          </a:solidFill>
          <a:ln w="7620">
            <a:solidFill>
              <a:srgbClr val="2C3E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69029" y="6525339"/>
            <a:ext cx="215931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Temporal Delay Patterns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69029" y="6825258"/>
            <a:ext cx="4101941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Delays exhibit clear day-of-week patterns, with certain days consistently showing higher incident rates. This insight enables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highlight>
                  <a:srgbClr val="E0F5FB"/>
                </a:highlight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proactive resource allocation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during peak challenge periods.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037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20" y="3176588"/>
            <a:ext cx="8336875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Power BI Dashboard Highlights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29020" y="4139922"/>
            <a:ext cx="1317236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 interactive visualization platform provides real-time operational intelligence for data-driven decision making across all levels of the organization.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20" y="5385911"/>
            <a:ext cx="104061" cy="1040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1321" y="5275302"/>
            <a:ext cx="4652129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Deliveries &amp; Delay Percentage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041321" y="5808940"/>
            <a:ext cx="6019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Comprehensive KPI tracking with trend analysis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20" y="6669524"/>
            <a:ext cx="104061" cy="1040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41321" y="6558915"/>
            <a:ext cx="3584258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 Performance Visuals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1041321" y="7092553"/>
            <a:ext cx="6019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Individual scorecards and comparative rankings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99" y="5385911"/>
            <a:ext cx="104061" cy="1040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89200" y="5275302"/>
            <a:ext cx="4011097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Route &amp; Region Delay Analysis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7889200" y="5808940"/>
            <a:ext cx="6019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Geographic heat maps and route-specific metrics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899" y="6669524"/>
            <a:ext cx="104061" cy="10406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889200" y="6558915"/>
            <a:ext cx="3829407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 vs Revenue Comparison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7889200" y="7092553"/>
            <a:ext cx="6019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Profitability analysis with drill-down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22709" y="426601"/>
            <a:ext cx="797481" cy="278725"/>
          </a:xfrm>
          <a:prstGeom prst="roundRect">
            <a:avLst>
              <a:gd name="adj" fmla="val 38329"/>
            </a:avLst>
          </a:prstGeom>
          <a:solidFill>
            <a:srgbClr val="C6C9D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1648" y="506611"/>
            <a:ext cx="118586" cy="118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89528" y="471011"/>
            <a:ext cx="441722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IMPACT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622709" y="764619"/>
            <a:ext cx="3709392" cy="463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Business Impact</a:t>
            </a:r>
            <a:endParaRPr lang="en-US" sz="2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709" y="1617821"/>
            <a:ext cx="3536752" cy="3536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29030" y="1584365"/>
            <a:ext cx="5486162" cy="71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analytics initiative delivers tangible improvements across operational and strategic dimensions, positioning the organization for sustained competitive advantage.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529030" y="2463165"/>
            <a:ext cx="5486162" cy="1181933"/>
          </a:xfrm>
          <a:prstGeom prst="roundRect">
            <a:avLst>
              <a:gd name="adj" fmla="val 6189"/>
            </a:avLst>
          </a:prstGeom>
          <a:solidFill>
            <a:srgbClr val="FFFFFF"/>
          </a:solidFill>
          <a:ln w="15240">
            <a:solidFill>
              <a:srgbClr val="C5C7D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790" y="2463165"/>
            <a:ext cx="60960" cy="11819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38342" y="2626757"/>
            <a:ext cx="2627471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Improved Delivery Planning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738342" y="3006923"/>
            <a:ext cx="5113258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Data-driven scheduling reduces delays and enhances customer satisfaction through predictive resource allocation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529030" y="3793450"/>
            <a:ext cx="5486162" cy="1181933"/>
          </a:xfrm>
          <a:prstGeom prst="roundRect">
            <a:avLst>
              <a:gd name="adj" fmla="val 6189"/>
            </a:avLst>
          </a:prstGeom>
          <a:solidFill>
            <a:srgbClr val="FFFFFF"/>
          </a:solidFill>
          <a:ln w="15240">
            <a:solidFill>
              <a:srgbClr val="C5C7D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790" y="3793450"/>
            <a:ext cx="60960" cy="11819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38342" y="3957042"/>
            <a:ext cx="256198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Reduced Operational Costs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738342" y="4337209"/>
            <a:ext cx="5113258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Route optimization and efficiency gains translate directly to bottom-line savings and margin improvement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529030" y="5123736"/>
            <a:ext cx="5486162" cy="1181933"/>
          </a:xfrm>
          <a:prstGeom prst="roundRect">
            <a:avLst>
              <a:gd name="adj" fmla="val 6189"/>
            </a:avLst>
          </a:prstGeom>
          <a:solidFill>
            <a:srgbClr val="FFFFFF"/>
          </a:solidFill>
          <a:ln w="15240">
            <a:solidFill>
              <a:srgbClr val="C5C7D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3790" y="5123736"/>
            <a:ext cx="60960" cy="118193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38342" y="5287328"/>
            <a:ext cx="2304574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Better Driver Monitoring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6738342" y="5667494"/>
            <a:ext cx="5113258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visibility enables targeted coaching, recognition, and accountability across the workforce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529030" y="6454021"/>
            <a:ext cx="5486162" cy="1181933"/>
          </a:xfrm>
          <a:prstGeom prst="roundRect">
            <a:avLst>
              <a:gd name="adj" fmla="val 6189"/>
            </a:avLst>
          </a:prstGeom>
          <a:solidFill>
            <a:srgbClr val="FFFFFF"/>
          </a:solidFill>
          <a:ln w="15240">
            <a:solidFill>
              <a:srgbClr val="C5C7D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3790" y="6454021"/>
            <a:ext cx="60960" cy="118193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38342" y="6617613"/>
            <a:ext cx="2757964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Data-Driven Decision Making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6738342" y="6997779"/>
            <a:ext cx="5113258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Real-time dashboards empower managers with actionable insights for rapid, informed operational adjustments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2443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388227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Let's connect to discuss how data analytics can drive operational excellence in transportation and logistics.</a:t>
            </a:r>
            <a:endParaRPr lang="en-US" sz="1750" dirty="0"/>
          </a:p>
        </p:txBody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4863227"/>
            <a:ext cx="2149316" cy="623768"/>
          </a:xfrm>
          <a:prstGeom prst="rect">
            <a:avLst/>
          </a:prstGeom>
        </p:spPr>
      </p:pic>
      <p:pic>
        <p:nvPicPr>
          <p:cNvPr id="6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853" y="4863227"/>
            <a:ext cx="2197060" cy="62376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80190" y="574214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Tejas Sonawane | Data Analytics 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2026-01-18T16:03:49Z</dcterms:created>
  <dcterms:modified xsi:type="dcterms:W3CDTF">2026-01-18T16:03:49Z</dcterms:modified>
</cp:coreProperties>
</file>